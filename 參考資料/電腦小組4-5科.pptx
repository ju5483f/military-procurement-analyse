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2" r:id="rId3"/>
    <p:sldId id="275" r:id="rId4"/>
    <p:sldId id="259" r:id="rId5"/>
    <p:sldId id="263" r:id="rId6"/>
    <p:sldId id="258" r:id="rId7"/>
    <p:sldId id="260" r:id="rId8"/>
    <p:sldId id="261" r:id="rId9"/>
    <p:sldId id="264" r:id="rId10"/>
    <p:sldId id="265" r:id="rId11"/>
    <p:sldId id="266" r:id="rId12"/>
    <p:sldId id="276" r:id="rId13"/>
    <p:sldId id="267" r:id="rId14"/>
    <p:sldId id="268" r:id="rId15"/>
    <p:sldId id="269" r:id="rId16"/>
    <p:sldId id="270" r:id="rId17"/>
    <p:sldId id="271" r:id="rId18"/>
    <p:sldId id="274" r:id="rId19"/>
  </p:sldIdLst>
  <p:sldSz cx="9144000" cy="6858000" type="screen4x3"/>
  <p:notesSz cx="6735763" cy="98663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580" y="-7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A9FB850A-D9C7-46DD-B8CF-483754554B8B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A59CEE1F-DE1C-44C8-ADAD-54E9C98097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電腦審計應用</a:t>
            </a:r>
            <a:r>
              <a:rPr lang="zh-TW" altLang="en-US" sz="4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小組</a:t>
            </a:r>
            <a:r>
              <a:rPr lang="en-US" altLang="zh-TW" sz="4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/>
            </a:r>
            <a:br>
              <a:rPr lang="en-US" altLang="zh-TW" sz="4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</a:br>
            <a:r>
              <a:rPr lang="zh-TW" altLang="en-US" sz="24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第五科</a:t>
            </a:r>
            <a:r>
              <a:rPr lang="en-US" altLang="zh-TW" sz="24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112</a:t>
            </a:r>
            <a:r>
              <a:rPr lang="zh-TW" altLang="en-US" sz="24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年度第</a:t>
            </a:r>
            <a:r>
              <a:rPr lang="en-US" altLang="zh-TW" sz="24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1</a:t>
            </a:r>
            <a:r>
              <a:rPr lang="zh-TW" altLang="en-US" sz="24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期財務收支抽查</a:t>
            </a:r>
            <a:endParaRPr lang="zh-TW" altLang="en-US" sz="2400" b="1" dirty="0">
              <a:solidFill>
                <a:srgbClr val="002060"/>
              </a:solidFill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31640" y="3476600"/>
            <a:ext cx="6400800" cy="17526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TW" altLang="en-US" sz="2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報告人員：潘</a:t>
            </a:r>
            <a:r>
              <a:rPr lang="zh-TW" altLang="en-US" sz="2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昱</a:t>
            </a:r>
            <a:r>
              <a:rPr lang="zh-TW" altLang="en-US" sz="2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廷、</a:t>
            </a:r>
            <a:r>
              <a:rPr lang="zh-TW" altLang="en-US" sz="2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陳嘉凱</a:t>
            </a:r>
          </a:p>
        </p:txBody>
      </p:sp>
    </p:spTree>
    <p:extLst>
      <p:ext uri="{BB962C8B-B14F-4D97-AF65-F5344CB8AC3E}">
        <p14:creationId xmlns:p14="http://schemas.microsoft.com/office/powerpoint/2010/main" val="48781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20046" y="2472007"/>
            <a:ext cx="4903907" cy="19139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00000"/>
              </a:lnSpc>
              <a:buFont typeface="+mj-ea"/>
              <a:buAutoNum type="ea1ChtPeriod"/>
            </a:pPr>
            <a:r>
              <a:rPr lang="zh-TW" altLang="en-US" sz="32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國軍軍購系統</a:t>
            </a:r>
            <a:r>
              <a:rPr lang="zh-TW" altLang="en-US" sz="32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應用</a:t>
            </a:r>
            <a:endParaRPr lang="en-US" altLang="zh-TW" sz="3200" b="1" dirty="0" smtClean="0">
              <a:solidFill>
                <a:srgbClr val="002060"/>
              </a:solidFill>
              <a:latin typeface="標楷體" pitchFamily="65" charset="-120"/>
              <a:ea typeface="標楷體" pitchFamily="65" charset="-120"/>
            </a:endParaRPr>
          </a:p>
          <a:p>
            <a:pPr marL="342900" lvl="0" indent="-342900">
              <a:lnSpc>
                <a:spcPct val="200000"/>
              </a:lnSpc>
              <a:buFont typeface="+mj-ea"/>
              <a:buAutoNum type="ea1ChtPeriod"/>
            </a:pPr>
            <a:r>
              <a:rPr lang="zh-TW" altLang="en-US" sz="32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零附件使用及管理</a:t>
            </a:r>
            <a:r>
              <a:rPr lang="zh-TW" altLang="en-US" sz="32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情形</a:t>
            </a:r>
            <a:endParaRPr lang="en-US" altLang="zh-TW" sz="3200" b="1" dirty="0">
              <a:solidFill>
                <a:srgbClr val="00206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403647" y="6926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本期運用電腦審計查核議題</a:t>
            </a:r>
            <a:endParaRPr lang="zh-TW" altLang="en-US" sz="4000" b="1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113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27823" y="3075057"/>
            <a:ext cx="42883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4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國軍</a:t>
            </a:r>
            <a:r>
              <a:rPr lang="zh-TW" altLang="en-US" sz="4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軍購系統</a:t>
            </a:r>
            <a:r>
              <a:rPr lang="zh-TW" altLang="en-US" sz="4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應用</a:t>
            </a:r>
            <a:endParaRPr lang="en-US" altLang="zh-TW" sz="4000" b="1" dirty="0" smtClean="0">
              <a:solidFill>
                <a:srgbClr val="00206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7811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國軍軍購系統應用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844824"/>
            <a:ext cx="8064896" cy="4752528"/>
          </a:xfrm>
        </p:spPr>
        <p:txBody>
          <a:bodyPr>
            <a:noAutofit/>
          </a:bodyPr>
          <a:lstStyle/>
          <a:p>
            <a:pPr indent="-457200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查核議題：國軍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對美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採購管理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及執行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情形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pPr lvl="1" indent="-457200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ü"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111.12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底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餘額佔累計結匯金額比率較大案件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分析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 indent="-457200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累積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結匯率與交運率差距過大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，及軍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品交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運 期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程延遲案件分析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8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國軍軍購系統應用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988840"/>
            <a:ext cx="8064896" cy="3168352"/>
          </a:xfrm>
        </p:spPr>
        <p:txBody>
          <a:bodyPr>
            <a:noAutofit/>
          </a:bodyPr>
          <a:lstStyle/>
          <a:p>
            <a:pPr indent="-457200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資料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取得及分析</a:t>
            </a:r>
            <a:r>
              <a:rPr lang="zh-TW" altLang="en-US" sz="2800" dirty="0" smtClean="0">
                <a:latin typeface="新細明體"/>
                <a:ea typeface="新細明體"/>
              </a:rPr>
              <a:t>：</a:t>
            </a:r>
            <a:endParaRPr lang="en-US" altLang="zh-TW" sz="2800" dirty="0">
              <a:latin typeface="標楷體" pitchFamily="65" charset="-120"/>
              <a:ea typeface="標楷體" pitchFamily="65" charset="-120"/>
            </a:endParaRPr>
          </a:p>
          <a:p>
            <a:pPr lvl="1" indent="-457200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一科向國防部取得各軍購案累積結匯值等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EXCEL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檔及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餘額。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 indent="-457200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用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EXCEL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交叉比對用以挑選比較有狀況的個案。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 indent="-457200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698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國軍軍購系統應用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714746"/>
            <a:ext cx="8229600" cy="445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535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zh-TW" altLang="en-US" sz="29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軍事投資案件</a:t>
            </a:r>
            <a:r>
              <a:rPr lang="en-US" altLang="zh-TW" sz="29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111.12</a:t>
            </a:r>
            <a:r>
              <a:rPr lang="zh-TW" altLang="en-US" sz="29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底</a:t>
            </a:r>
            <a:r>
              <a:rPr lang="en-US" altLang="zh-TW" sz="29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FRB</a:t>
            </a:r>
            <a:r>
              <a:rPr lang="zh-TW" altLang="en-US" sz="29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餘額佔累計結匯金額比率較大案件分析及查核情形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6320"/>
          </a:xfrm>
        </p:spPr>
        <p:txBody>
          <a:bodyPr/>
          <a:lstStyle/>
          <a:p>
            <a:pPr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經查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111.12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月底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有餘額案件，軍事投資有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8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件，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餘額為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9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2,041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萬餘美元，作業維持有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104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件，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餘額為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6,643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萬餘美元</a:t>
            </a: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  <a:p>
            <a:pPr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其中以軍事投資案件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餘額較大，故以該類別為選案基準並分析軍投各案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餘額佔累計結匯金額如下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皆以美元作計算基準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):</a:t>
            </a: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48" y="3711467"/>
            <a:ext cx="6747098" cy="3101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984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zh-TW" altLang="en-US" sz="30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軍事投資案件累積結匯率與交運率差距過大</a:t>
            </a:r>
            <a:r>
              <a:rPr lang="zh-TW" altLang="en-US" sz="3000" b="1" kern="1200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，及軍</a:t>
            </a:r>
            <a:r>
              <a:rPr lang="zh-TW" altLang="en-US" sz="30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品交</a:t>
            </a:r>
            <a:r>
              <a:rPr lang="zh-TW" altLang="en-US" sz="3000" b="1" kern="1200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運期</a:t>
            </a:r>
            <a:r>
              <a:rPr lang="zh-TW" altLang="en-US" sz="30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程延遲</a:t>
            </a:r>
            <a:r>
              <a:rPr lang="zh-TW" altLang="en-US" sz="3000" b="1" kern="1200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案件</a:t>
            </a:r>
            <a:r>
              <a:rPr lang="zh-TW" altLang="en-US" sz="30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分析及查核情形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8600" y="1700808"/>
            <a:ext cx="8686800" cy="4686320"/>
          </a:xfrm>
        </p:spPr>
        <p:txBody>
          <a:bodyPr/>
          <a:lstStyle/>
          <a:p>
            <a:pPr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餘額佔累積結匯金額較大之軍事投資案件分析情形如下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：</a:t>
            </a:r>
          </a:p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4" y="2492896"/>
            <a:ext cx="8727132" cy="335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0986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zh-TW" altLang="en-US" sz="36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獵狸專案</a:t>
            </a:r>
            <a:r>
              <a:rPr lang="en-US" altLang="zh-TW" sz="36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(TWBZBT)</a:t>
            </a:r>
            <a:r>
              <a:rPr lang="zh-TW" altLang="en-US" sz="3600" b="1" kern="1200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  <a:cs typeface="+mn-cs"/>
              </a:rPr>
              <a:t>查核情形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6856" y="1700808"/>
            <a:ext cx="8229600" cy="511256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建案時間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:107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年；發價書金額</a:t>
            </a:r>
            <a:r>
              <a:rPr lang="en-US" altLang="zh-TW" sz="26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3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7,758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萬餘美元</a:t>
            </a:r>
            <a:endParaRPr lang="en-US" altLang="zh-TW" sz="2600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600" dirty="0" smtClean="0">
                <a:latin typeface="標楷體" pitchFamily="65" charset="-120"/>
                <a:ea typeface="標楷體" pitchFamily="65" charset="-120"/>
              </a:rPr>
              <a:t>採購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主要裝備項目</a:t>
            </a:r>
            <a:r>
              <a:rPr lang="en-US" altLang="zh-TW" sz="26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改良式目標獲得系統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100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套、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TOW-2B RF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飛彈</a:t>
            </a:r>
            <a:r>
              <a:rPr lang="en-US" altLang="zh-TW" sz="2600" dirty="0" smtClean="0">
                <a:latin typeface="標楷體" pitchFamily="65" charset="-120"/>
                <a:ea typeface="標楷體" pitchFamily="65" charset="-120"/>
              </a:rPr>
              <a:t>1,700</a:t>
            </a:r>
            <a:r>
              <a:rPr lang="zh-TW" altLang="zh-TW" sz="2600" dirty="0" smtClean="0">
                <a:latin typeface="標楷體" pitchFamily="65" charset="-120"/>
                <a:ea typeface="標楷體" pitchFamily="65" charset="-120"/>
              </a:rPr>
              <a:t>枚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、悍馬車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100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輛</a:t>
            </a:r>
            <a:endParaRPr lang="en-US" altLang="zh-TW" sz="2600" dirty="0">
              <a:latin typeface="標楷體" pitchFamily="65" charset="-120"/>
              <a:ea typeface="標楷體" pitchFamily="65" charset="-12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截至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111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年底累積結匯金額約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3,754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萬餘元美元；累積交運值約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863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萬餘元</a:t>
            </a:r>
            <a:r>
              <a:rPr lang="zh-TW" altLang="en-US" sz="2600" dirty="0" smtClean="0">
                <a:latin typeface="標楷體" pitchFamily="65" charset="-120"/>
                <a:ea typeface="標楷體" pitchFamily="65" charset="-120"/>
              </a:rPr>
              <a:t>美元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(3.6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％</a:t>
            </a:r>
            <a:r>
              <a:rPr lang="en-US" altLang="zh-TW" sz="2600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sz="2600" dirty="0" smtClean="0">
                <a:latin typeface="標楷體" pitchFamily="65" charset="-120"/>
                <a:ea typeface="標楷體" pitchFamily="65" charset="-120"/>
              </a:rPr>
              <a:t>；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在途物資餘額約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2,891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萬餘元</a:t>
            </a:r>
            <a:r>
              <a:rPr lang="zh-TW" altLang="en-US" sz="2600" dirty="0" smtClean="0">
                <a:latin typeface="標楷體" pitchFamily="65" charset="-120"/>
                <a:ea typeface="標楷體" pitchFamily="65" charset="-120"/>
              </a:rPr>
              <a:t>美元；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FRB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餘額約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9,242</a:t>
            </a:r>
            <a:r>
              <a:rPr lang="zh-TW" altLang="zh-TW" sz="2600" dirty="0">
                <a:latin typeface="標楷體" pitchFamily="65" charset="-120"/>
                <a:ea typeface="標楷體" pitchFamily="65" charset="-120"/>
              </a:rPr>
              <a:t>萬餘</a:t>
            </a:r>
            <a:r>
              <a:rPr lang="zh-TW" altLang="zh-TW" sz="2600" dirty="0" smtClean="0">
                <a:latin typeface="標楷體" pitchFamily="65" charset="-120"/>
                <a:ea typeface="標楷體" pitchFamily="65" charset="-120"/>
              </a:rPr>
              <a:t>美元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(81.01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％</a:t>
            </a:r>
            <a:r>
              <a:rPr lang="en-US" altLang="zh-TW" sz="2600" dirty="0" smtClean="0">
                <a:latin typeface="標楷體" pitchFamily="65" charset="-120"/>
                <a:ea typeface="標楷體" pitchFamily="65" charset="-120"/>
              </a:rPr>
              <a:t>)</a:t>
            </a:r>
            <a:endParaRPr lang="en-US" altLang="zh-TW" sz="2600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查核發現</a:t>
            </a:r>
            <a:r>
              <a:rPr lang="en-US" altLang="zh-TW" sz="26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查最近一版於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111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年簽屬之發價書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(A4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版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，其中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460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枚飛彈及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46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套發射器原應於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111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年底前到</a:t>
            </a:r>
            <a:r>
              <a:rPr lang="zh-TW" altLang="en-US" sz="2600" dirty="0" smtClean="0">
                <a:latin typeface="標楷體" pitchFamily="65" charset="-120"/>
                <a:ea typeface="標楷體" pitchFamily="65" charset="-120"/>
              </a:rPr>
              <a:t>貨，交貨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延遲至</a:t>
            </a:r>
            <a:r>
              <a:rPr lang="en-US" altLang="zh-TW" sz="2600" dirty="0">
                <a:latin typeface="標楷體" pitchFamily="65" charset="-120"/>
                <a:ea typeface="標楷體" pitchFamily="65" charset="-120"/>
              </a:rPr>
              <a:t>112</a:t>
            </a: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年年底前</a:t>
            </a:r>
            <a:r>
              <a:rPr lang="zh-TW" altLang="en-US" sz="2600" dirty="0" smtClean="0">
                <a:latin typeface="標楷體" pitchFamily="65" charset="-120"/>
                <a:ea typeface="標楷體" pitchFamily="65" charset="-120"/>
              </a:rPr>
              <a:t>提交</a:t>
            </a:r>
            <a:endParaRPr lang="en-US" altLang="zh-TW" sz="2600" dirty="0" smtClean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主要係因原規劃彈頭生產供應商產能無法配合本案時程等問題，調整由其他供應商生產所致，另，發射器因雷神公司產線重啟及全球疫情造成晶片、原料及人工短缺等影響造成產線延宕。</a:t>
            </a:r>
            <a:endParaRPr lang="en-US" altLang="zh-TW" sz="2600" dirty="0">
              <a:latin typeface="標楷體" pitchFamily="65" charset="-120"/>
              <a:ea typeface="標楷體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043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獵狸專案</a:t>
            </a:r>
            <a:r>
              <a:rPr lang="en-US" altLang="zh-TW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(TWBZBT)</a:t>
            </a:r>
            <a:r>
              <a:rPr lang="zh-TW" altLang="en-US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查核情形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691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我方作為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zh-TW" sz="2400" dirty="0" smtClean="0">
                <a:latin typeface="標楷體" pitchFamily="65" charset="-120"/>
                <a:ea typeface="標楷體" pitchFamily="65" charset="-120"/>
              </a:rPr>
              <a:t>依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美方提供分季帳單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(645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表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，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111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年度共需支付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3,907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萬餘美元，陸軍僅支付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6,289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萬餘美元，占比約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26.31</a:t>
            </a:r>
            <a:r>
              <a:rPr lang="zh-TW" altLang="zh-TW" sz="2400" dirty="0">
                <a:latin typeface="標楷體" pitchFamily="65" charset="-120"/>
                <a:ea typeface="標楷體" pitchFamily="65" charset="-120"/>
              </a:rPr>
              <a:t>％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，且陸軍與美方協商，要求美方政府停止支付合約商款項，且必須於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112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7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月交付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20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套發射系統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全部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100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套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預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擬意見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陸軍雖無支付全額，惟本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案於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111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年底美聯邦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儲備銀行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(FRB)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之案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款尚有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億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9,242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萬餘美元，約占累積匯款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總額約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81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％，</a:t>
            </a:r>
            <a:r>
              <a:rPr lang="zh-TW" altLang="en-US" sz="2400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將</a:t>
            </a:r>
            <a:r>
              <a:rPr lang="zh-TW" altLang="en-US" sz="240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函請陸軍司令部作相關滾動式檢討。</a:t>
            </a:r>
            <a:endParaRPr lang="en-US" altLang="zh-TW" sz="2400" dirty="0" smtClean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待分析及確認資料：獵貍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專案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111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年度實際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匯款值。</a:t>
            </a: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057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本期</a:t>
            </a:r>
            <a:r>
              <a:rPr lang="zh-TW" altLang="en-US" sz="36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查核具挑戰之處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3568" y="1600200"/>
            <a:ext cx="7776864" cy="46863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查核困難：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資料全英文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發價書等等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，要短時間閱讀並抓到缺失有困難。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資料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取得不易，陸軍司令部計畫處一直拖延給資料時間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，但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經我方努力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不懈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溝通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，目前已取得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獵貍資料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，而軍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購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案調查表預計於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112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5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月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12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日送交本部，下期抽查擬盡早請單位備妥資料，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以解決本期遇到問題。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endParaRPr lang="en-US" altLang="zh-TW" sz="2800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B0F0"/>
              </a:buClr>
              <a:buSzPct val="70000"/>
              <a:buFont typeface="Wingdings" panose="05000000000000000000" pitchFamily="2" charset="2"/>
              <a:buChar char="p"/>
            </a:pPr>
            <a:endParaRPr lang="zh-TW" altLang="en-US" sz="2800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4678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4862" y="2798058"/>
            <a:ext cx="5314275" cy="1261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TW" altLang="en-US" sz="4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零</a:t>
            </a:r>
            <a:r>
              <a:rPr lang="zh-TW" altLang="en-US" sz="4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附件使用及管理</a:t>
            </a:r>
            <a:r>
              <a:rPr lang="zh-TW" altLang="en-US" sz="40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情形</a:t>
            </a:r>
            <a:endParaRPr lang="en-US" altLang="zh-TW" sz="4000" b="1" dirty="0" smtClean="0">
              <a:solidFill>
                <a:srgbClr val="002060"/>
              </a:solidFill>
              <a:latin typeface="標楷體" pitchFamily="65" charset="-120"/>
              <a:ea typeface="標楷體" pitchFamily="65" charset="-120"/>
            </a:endParaRPr>
          </a:p>
          <a:p>
            <a:pPr algn="ctr"/>
            <a:r>
              <a:rPr lang="en-US" altLang="zh-TW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-</a:t>
            </a:r>
            <a:r>
              <a:rPr lang="zh-TW" altLang="en-US" sz="36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零附件久儲未</a:t>
            </a:r>
            <a:r>
              <a:rPr lang="zh-TW" altLang="en-US" sz="3600" b="1" dirty="0" smtClean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耗</a:t>
            </a:r>
            <a:endParaRPr lang="zh-TW" altLang="en-US" sz="3600" b="1" dirty="0">
              <a:solidFill>
                <a:srgbClr val="00206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4537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1988840"/>
            <a:ext cx="7427168" cy="43099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p"/>
            </a:pP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久儲未耗零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附件成因、使用、購買及清整情形，是否存有未臻周妥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pPr marL="457200" lvl="1" indent="0">
              <a:lnSpc>
                <a:spcPct val="150000"/>
              </a:lnSpc>
              <a:buClr>
                <a:srgbClr val="00B0F0"/>
              </a:buClr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向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承辦人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取得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前幾年曾為久儲未耗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品項電子檔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，以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篩選分析其後續使用之情形、購買情形、成因分析及清整成效。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p"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736002" y="332656"/>
            <a:ext cx="5671996" cy="1077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零附件使用及管理情形</a:t>
            </a:r>
            <a:endParaRPr kumimoji="0" lang="en-US" altLang="zh-TW" sz="3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-</a:t>
            </a: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零附件久儲未耗</a:t>
            </a: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91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1988840"/>
            <a:ext cx="7427168" cy="43099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p"/>
            </a:pP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久儲未耗零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附件使用、購買及清整情形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pPr marL="457200" lvl="1" indent="0">
              <a:lnSpc>
                <a:spcPct val="150000"/>
              </a:lnSpc>
              <a:buClr>
                <a:srgbClr val="00B0F0"/>
              </a:buClr>
              <a:buNone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六年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以上無開撥紀錄之零附件，會於零附件存管系統以「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@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」代號作為久儲未耗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管制，並依清整具體作法及每年清整率目標進行清整，俾增加庫容運用性。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  <a:p>
            <a:pPr lvl="1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p"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736002" y="332656"/>
            <a:ext cx="5671996" cy="1077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零附件使用及管理情形</a:t>
            </a:r>
            <a:endParaRPr kumimoji="0" lang="en-US" altLang="zh-TW" sz="3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-</a:t>
            </a: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零附件久儲未耗</a:t>
            </a: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09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8416" y="1772816"/>
            <a:ext cx="7427168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p"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初步查核成果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清整成效分析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經查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，陸勤部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109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至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111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年度，每年度清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整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成效計算依據均不一致，可能無法有效反應各年度清整成效。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736002" y="332656"/>
            <a:ext cx="5671996" cy="1077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零附件使用及管理情形</a:t>
            </a:r>
            <a:endParaRPr kumimoji="0" lang="en-US" altLang="zh-TW" sz="3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-</a:t>
            </a: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零附件久儲未耗</a:t>
            </a: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18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772816"/>
            <a:ext cx="7427168" cy="4525963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本期查核具挑戰之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處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marL="457200" lvl="1" indent="0">
              <a:buClr>
                <a:srgbClr val="00B0F0"/>
              </a:buClr>
              <a:buNone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陸勤部部分數據計算方式不一或有誤，可能導致後續分析失真</a:t>
            </a:r>
            <a:endParaRPr lang="en-US" altLang="zh-TW" sz="3200" dirty="0" smtClean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983889"/>
              </p:ext>
            </p:extLst>
          </p:nvPr>
        </p:nvGraphicFramePr>
        <p:xfrm>
          <a:off x="1129856" y="4378796"/>
          <a:ext cx="68122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1211580">
                  <a:extLst>
                    <a:ext uri="{9D8B030D-6E8A-4147-A177-3AD203B41FA5}">
                      <a16:colId xmlns:a16="http://schemas.microsoft.com/office/drawing/2014/main" xmlns="" val="365159632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xmlns="" val="1548213034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xmlns="" val="103741216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xmlns="" val="3876459174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xmlns="" val="1551723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107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108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109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110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111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4400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項數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49,464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46,841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72,387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56,322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54,051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8016184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2627784" y="3831431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近年久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儲未耗零附件總數</a:t>
            </a:r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4860032" y="5157192"/>
            <a:ext cx="0" cy="4320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843821" y="5559623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據</a:t>
            </a:r>
            <a:r>
              <a:rPr lang="zh-TW" altLang="en-US" sz="2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承辦人說明，此年度數量異常增加為誤算</a:t>
            </a:r>
            <a:endParaRPr lang="zh-TW" altLang="en-US" sz="2400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736002" y="332656"/>
            <a:ext cx="5671996" cy="1077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零附件使用及管理情形</a:t>
            </a:r>
            <a:endParaRPr kumimoji="0" lang="en-US" altLang="zh-TW" sz="3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-</a:t>
            </a: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零附件久儲未耗</a:t>
            </a: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36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772816"/>
            <a:ext cx="7427168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p"/>
            </a:pP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後續待完成之分析項目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成因分析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如汰除裝備、戰備存量、初次備份件、遞減裝備、裝備維持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</a:p>
          <a:p>
            <a:pPr lvl="1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後續使用情形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分析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lvl="1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後續購買情形分析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736002" y="332656"/>
            <a:ext cx="5671996" cy="1077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零附件使用及管理情形</a:t>
            </a:r>
            <a:endParaRPr kumimoji="0" lang="en-US" altLang="zh-TW" sz="3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-</a:t>
            </a: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零附件久儲未耗</a:t>
            </a: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10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3E0C4ECC-D4B2-455D-883F-D105F2D376BF}"/>
              </a:ext>
            </a:extLst>
          </p:cNvPr>
          <p:cNvSpPr txBox="1"/>
          <p:nvPr/>
        </p:nvSpPr>
        <p:spPr>
          <a:xfrm>
            <a:off x="3032253" y="2551837"/>
            <a:ext cx="3079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報告完畢</a:t>
            </a:r>
            <a:endParaRPr lang="en-US" altLang="zh-TW" sz="5400" b="1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54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恭請</a:t>
            </a:r>
            <a:r>
              <a:rPr lang="zh-TW" altLang="en-US" sz="54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指導</a:t>
            </a:r>
            <a:endParaRPr lang="en-US" altLang="zh-TW" sz="5400" b="1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5699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撲面">
  <a:themeElements>
    <a:clrScheme name="暗香撲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撲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撲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</TotalTime>
  <Words>950</Words>
  <Application>Microsoft Office PowerPoint</Application>
  <PresentationFormat>如螢幕大小 (4:3)</PresentationFormat>
  <Paragraphs>77</Paragraphs>
  <Slides>18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暗香撲面</vt:lpstr>
      <vt:lpstr>電腦審計應用小組 第五科112年度第1期財務收支抽查</vt:lpstr>
      <vt:lpstr>PowerPoint 簡報</vt:lpstr>
      <vt:lpstr>PowerPoint 簡報</vt:lpstr>
      <vt:lpstr>國軍軍購系統應用</vt:lpstr>
      <vt:lpstr>國軍軍購系統應用</vt:lpstr>
      <vt:lpstr>國軍軍購系統應用</vt:lpstr>
      <vt:lpstr>軍事投資案件111.12底FRB餘額佔累計結匯金額比率較大案件分析及查核情形</vt:lpstr>
      <vt:lpstr>軍事投資案件累積結匯率與交運率差距過大，及軍品交運期程延遲案件分析及查核情形</vt:lpstr>
      <vt:lpstr>獵狸專案(TWBZBT)查核情形</vt:lpstr>
      <vt:lpstr>獵狸專案(TWBZBT)查核情形</vt:lpstr>
      <vt:lpstr>本期查核具挑戰之處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潘昱廷</dc:creator>
  <cp:lastModifiedBy>高蕾鈞</cp:lastModifiedBy>
  <cp:revision>152</cp:revision>
  <cp:lastPrinted>2023-05-08T07:50:01Z</cp:lastPrinted>
  <dcterms:created xsi:type="dcterms:W3CDTF">2023-01-05T07:42:07Z</dcterms:created>
  <dcterms:modified xsi:type="dcterms:W3CDTF">2023-05-09T02:31:00Z</dcterms:modified>
</cp:coreProperties>
</file>